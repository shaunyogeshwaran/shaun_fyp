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yourself, state your project title and supervisor. ~30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Just show the agenda, don't spell out each item. ~15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core problem: LLMs hallucinate, and existing verification doesn't adapt to evidence quality. Cite Ji et al. 2023 and Williams et al. 2018. ~1.5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MOST IMPORTANT SLIDE per the presentation guide. Clearly explain: no existing framework adapts NLI threshold based on retrieval confidence. Cite CoNLI, SGIC (Chen et al. 2025), Chain-of-Verification (Dhuliawala et al. 2024). ~2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aim clearly, then present the three RQs. These drive the entire evaluation. ~1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4-layer pipeline. Point to the architecture diagram. Explain how data flows from query to verdict. ~1.5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Justify key technology choices. Why FastAPI? Why FAISS? Why CPU-only? ~1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experiment design. Precompute-then-sweep is a key engineering decision. Explain the v2 improvements. ~1.5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DEMO. Have the system running (make start). Show: (1) verified query, (2) hallucination, (3) v2 per-claim, (4) threshold slider, (5) Explore page batch. ~3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testing comprehensively: unit, integration, API-level, non-functional, and model evaluation. Highlight the null result honestly. ~1.5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Summarise expert evaluation. Be honest about ratings. The transparency and honest reporting were highlighted as strengths. ~1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Clearly state both contributions. Emphasise that the null result is informative — it tells the community WHEN adaptive thresholds help and when they don't. ~1.5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Clearly articulate what is NEW. The confidence-weighted threshold is the core novelty. The v2 engineering (windowed NLI, decomposition) is the practical novelty. ~1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honest about limitations. Then show awareness of how to address them. ~1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Summarise the key takeaways. Lead with the honest finding, then the practical contribution. ~1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skills NOT from the curriculum. Emphasise NLI, FAISS, RAG, and statistical testing as particularly novel. ~45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skills FROM the degree programme applied to the project. ~45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with a clear summary of contributions. Open for questions. Thank the panel.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INFORMATICS INSTITUTE OF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In Collaboration with University of Westminster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  <a:latin typeface="Calibri"/>
              </a:defRPr>
            </a:pPr>
            <a:r>
              <a:t>An Adaptive, Confidence-Weighted Verification</a:t>
            </a:r>
            <a:br/>
            <a:r>
              <a:t>Framework for Mitigating LLM Hallucinations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38BDF8"/>
                </a:solidFill>
                <a:latin typeface="Calibri"/>
              </a:defRPr>
            </a:pPr>
            <a:r>
              <a:t>AFLHR Lite — Cw-CONLI Hallucination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1F5F9"/>
                </a:solidFill>
                <a:latin typeface="Calibri"/>
              </a:defRPr>
            </a:pPr>
            <a:r>
              <a:t>Shaun Yogeshwaran  •  w1912919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Supervised by Mr. John Sriskandarajah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BSc (Hons) Computer Science  •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1F5F9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F1F5F9"/>
                </a:solidFill>
                <a:latin typeface="Calibri"/>
              </a:defRPr>
            </a:pPr>
            <a:r>
              <a:t>•  Problem Statement &amp; Research Gap</a:t>
            </a:r>
          </a:p>
          <a:p>
            <a:pPr>
              <a:spcAft>
                <a:spcPts val="600"/>
              </a:spcAft>
              <a:defRPr sz="2000">
                <a:solidFill>
                  <a:srgbClr val="F1F5F9"/>
                </a:solidFill>
                <a:latin typeface="Calibri"/>
              </a:defRPr>
            </a:pPr>
            <a:r>
              <a:t>•  Research Aim &amp; Questions</a:t>
            </a:r>
          </a:p>
          <a:p>
            <a:pPr>
              <a:spcAft>
                <a:spcPts val="600"/>
              </a:spcAft>
              <a:defRPr sz="2000">
                <a:solidFill>
                  <a:srgbClr val="F1F5F9"/>
                </a:solidFill>
                <a:latin typeface="Calibri"/>
              </a:defRPr>
            </a:pPr>
            <a:r>
              <a:t>•  System Design &amp; Architecture</a:t>
            </a:r>
          </a:p>
          <a:p>
            <a:pPr>
              <a:spcAft>
                <a:spcPts val="600"/>
              </a:spcAft>
              <a:defRPr sz="2000">
                <a:solidFill>
                  <a:srgbClr val="F1F5F9"/>
                </a:solidFill>
                <a:latin typeface="Calibri"/>
              </a:defRPr>
            </a:pPr>
            <a:r>
              <a:t>•  Implementation &amp; Technology Stack</a:t>
            </a:r>
          </a:p>
          <a:p>
            <a:pPr>
              <a:spcAft>
                <a:spcPts val="600"/>
              </a:spcAft>
              <a:defRPr sz="2000">
                <a:solidFill>
                  <a:srgbClr val="F1F5F9"/>
                </a:solidFill>
                <a:latin typeface="Calibri"/>
              </a:defRPr>
            </a:pPr>
            <a:r>
              <a:t>•  AI/ML Pipeline Details</a:t>
            </a:r>
          </a:p>
          <a:p>
            <a:pPr>
              <a:spcAft>
                <a:spcPts val="600"/>
              </a:spcAft>
              <a:defRPr sz="2000">
                <a:solidFill>
                  <a:srgbClr val="F1F5F9"/>
                </a:solidFill>
                <a:latin typeface="Calibri"/>
              </a:defRPr>
            </a:pPr>
            <a:r>
              <a:t>•  Live Demonstration</a:t>
            </a:r>
          </a:p>
          <a:p>
            <a:pPr>
              <a:spcAft>
                <a:spcPts val="600"/>
              </a:spcAft>
              <a:defRPr sz="2000">
                <a:solidFill>
                  <a:srgbClr val="F1F5F9"/>
                </a:solidFill>
                <a:latin typeface="Calibri"/>
              </a:defRPr>
            </a:pPr>
            <a:r>
              <a:t>•  Testing &amp; Evaluation Results</a:t>
            </a:r>
          </a:p>
          <a:p>
            <a:pPr>
              <a:spcAft>
                <a:spcPts val="600"/>
              </a:spcAft>
              <a:defRPr sz="2000">
                <a:solidFill>
                  <a:srgbClr val="F1F5F9"/>
                </a:solidFill>
                <a:latin typeface="Calibri"/>
              </a:defRPr>
            </a:pPr>
            <a:r>
              <a:t>•  Critical Evaluation Outcomes</a:t>
            </a:r>
          </a:p>
          <a:p>
            <a:pPr>
              <a:spcAft>
                <a:spcPts val="600"/>
              </a:spcAft>
              <a:defRPr sz="2000">
                <a:solidFill>
                  <a:srgbClr val="F1F5F9"/>
                </a:solidFill>
                <a:latin typeface="Calibri"/>
              </a:defRPr>
            </a:pPr>
            <a:r>
              <a:t>•  Contributions, Novelty &amp; Limitations</a:t>
            </a:r>
          </a:p>
          <a:p>
            <a:pPr>
              <a:spcAft>
                <a:spcPts val="600"/>
              </a:spcAft>
              <a:defRPr sz="2000">
                <a:solidFill>
                  <a:srgbClr val="F1F5F9"/>
                </a:solidFill>
                <a:latin typeface="Calibri"/>
              </a:defRPr>
            </a:pPr>
            <a:r>
              <a:t>•  Conclusion &amp; Skills Acquired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1F5F9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F1F5F9"/>
                </a:solidFill>
                <a:latin typeface="Calibri"/>
              </a:defRPr>
            </a:pPr>
            <a:r>
              <a:t>Large Language Models generate fluent but factually unsupported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94A3B8"/>
                </a:solidFill>
                <a:latin typeface="Calibri"/>
              </a:defRPr>
            </a:pPr>
            <a:r>
              <a:t>•  LLMs hallucinate — producing confident but incorrect information (Ji et al., 2023)</a:t>
            </a:r>
          </a:p>
          <a:p>
            <a:pPr>
              <a:spcAft>
                <a:spcPts val="600"/>
              </a:spcAft>
              <a:defRPr sz="1800">
                <a:solidFill>
                  <a:srgbClr val="94A3B8"/>
                </a:solidFill>
                <a:latin typeface="Calibri"/>
              </a:defRPr>
            </a:pPr>
            <a:r>
              <a:t>•  Existing NLI verification uses uniform thresholds regardless of evidence quality</a:t>
            </a:r>
          </a:p>
          <a:p>
            <a:pPr>
              <a:spcAft>
                <a:spcPts val="600"/>
              </a:spcAft>
              <a:defRPr sz="1800">
                <a:solidFill>
                  <a:srgbClr val="94A3B8"/>
                </a:solidFill>
                <a:latin typeface="Calibri"/>
              </a:defRPr>
            </a:pPr>
            <a:r>
              <a:t>•  Static thresholds over-flag well-supported responses and under-flag poorly-supported ones</a:t>
            </a:r>
          </a:p>
          <a:p>
            <a:pPr>
              <a:spcAft>
                <a:spcPts val="600"/>
              </a:spcAft>
              <a:defRPr sz="1800">
                <a:solidFill>
                  <a:srgbClr val="94A3B8"/>
                </a:solidFill>
                <a:latin typeface="Calibri"/>
              </a:defRPr>
            </a:pPr>
            <a:r>
              <a:t>•  Summarisation tasks break when premises exceed 512 tokens (RoBERTa limit)</a:t>
            </a:r>
          </a:p>
          <a:p>
            <a:pPr>
              <a:spcAft>
                <a:spcPts val="600"/>
              </a:spcAft>
              <a:defRPr sz="1800">
                <a:solidFill>
                  <a:srgbClr val="94A3B8"/>
                </a:solidFill>
                <a:latin typeface="Calibri"/>
              </a:defRPr>
            </a:pPr>
            <a:r>
              <a:t>•  No existing framework adapts verification stringency to retrieval confidence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Calibri"/>
              </a:defRPr>
            </a:pPr>
            <a:r>
              <a:t>Research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BBF24"/>
                </a:solidFill>
                <a:latin typeface="Calibri"/>
              </a:defRPr>
            </a:pPr>
            <a:r>
              <a:t>This is the core motivation for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94A3B8"/>
                </a:solidFill>
                <a:latin typeface="Calibri"/>
              </a:defRPr>
            </a:pPr>
            <a:r>
              <a:t>•  Existing work (CoNLI, SGIC, Chain-of-Verification) uses fixed verification thresholds</a:t>
            </a:r>
          </a:p>
          <a:p>
            <a:pPr>
              <a:spcAft>
                <a:spcPts val="600"/>
              </a:spcAft>
              <a:defRPr sz="1800">
                <a:solidFill>
                  <a:srgbClr val="94A3B8"/>
                </a:solidFill>
                <a:latin typeface="Calibri"/>
              </a:defRPr>
            </a:pPr>
            <a:r>
              <a:t>•  No framework adjusts NLI stringency based on retrieval confidence quality</a:t>
            </a:r>
          </a:p>
          <a:p>
            <a:pPr>
              <a:spcAft>
                <a:spcPts val="600"/>
              </a:spcAft>
              <a:defRPr sz="1800">
                <a:solidFill>
                  <a:srgbClr val="94A3B8"/>
                </a:solidFill>
                <a:latin typeface="Calibri"/>
              </a:defRPr>
            </a:pPr>
            <a:r>
              <a:t>•  512-token truncation breaks NLI for long-context tasks (summarisation)</a:t>
            </a:r>
          </a:p>
          <a:p>
            <a:pPr>
              <a:spcAft>
                <a:spcPts val="600"/>
              </a:spcAft>
              <a:defRPr sz="1800">
                <a:solidFill>
                  <a:srgbClr val="94A3B8"/>
                </a:solidFill>
                <a:latin typeface="Calibri"/>
              </a:defRPr>
            </a:pPr>
            <a:r>
              <a:t>•  Whole-response NLI misses partial hallucinations within multi-claim responses</a:t>
            </a:r>
          </a:p>
          <a:p>
            <a:pPr>
              <a:spcAft>
                <a:spcPts val="600"/>
              </a:spcAft>
              <a:defRPr sz="1800">
                <a:solidFill>
                  <a:srgbClr val="94A3B8"/>
                </a:solidFill>
                <a:latin typeface="Calibri"/>
              </a:defRPr>
            </a:pPr>
            <a:r>
              <a:t>•  Gap: Need adaptive, confidence-weighted verification that handles variable evidence quality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1F5F9"/>
                </a:solidFill>
                <a:latin typeface="Calibri"/>
              </a:defRPr>
            </a:pPr>
            <a:r>
              <a:t>Research Aim &amp;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1F5F9"/>
                </a:solidFill>
                <a:latin typeface="Calibri"/>
              </a:defRPr>
            </a:pPr>
            <a:r>
              <a:t>Aim: To design, implement, and evaluate a confidence-weighted NLI verification framework that dynamically adjusts hallucination detection thresholds based on retrieval confidence.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8BDF8"/>
                </a:solidFill>
                <a:latin typeface="Calibri"/>
              </a:defRPr>
            </a:pPr>
            <a:r>
              <a:t>•  RQ1: Does confidence-weighted thresholding improve hallucination detection F1?</a:t>
            </a:r>
          </a:p>
          <a:p>
            <a:pPr>
              <a:spcAft>
                <a:spcPts val="600"/>
              </a:spcAft>
              <a:defRPr sz="1800">
                <a:solidFill>
                  <a:srgbClr val="38BDF8"/>
                </a:solidFill>
                <a:latin typeface="Calibri"/>
              </a:defRPr>
            </a:pPr>
            <a:r>
              <a:t>•  RQ2: Does Cw-CONLI reduce over-flagging of correct responses?</a:t>
            </a:r>
          </a:p>
          <a:p>
            <a:pPr>
              <a:spcAft>
                <a:spcPts val="600"/>
              </a:spcAft>
              <a:defRPr sz="1800">
                <a:solidFill>
                  <a:srgbClr val="38BDF8"/>
                </a:solidFill>
                <a:latin typeface="Calibri"/>
              </a:defRPr>
            </a:pPr>
            <a:r>
              <a:t>•  RQ3: Which weighting function (tiered, sqrt, sigmoid) performs best?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1F5F9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BBF24"/>
                </a:solidFill>
                <a:latin typeface="Calibri"/>
              </a:defRPr>
            </a:pPr>
            <a:r>
              <a:t>[INSERT: Architecture diagram from thesis — Figure 3.1 or similar]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94A3B8"/>
                </a:solidFill>
                <a:latin typeface="Calibri"/>
              </a:defRPr>
            </a:pPr>
            <a:r>
              <a:t>•  Layer 1: RAG Retrieval — FAISS vector search with BGE/MiniLM embeddings</a:t>
            </a:r>
          </a:p>
          <a:p>
            <a:pPr>
              <a:spcAft>
                <a:spcPts val="600"/>
              </a:spcAft>
              <a:defRPr sz="1800">
                <a:solidFill>
                  <a:srgbClr val="94A3B8"/>
                </a:solidFill>
                <a:latin typeface="Calibri"/>
              </a:defRPr>
            </a:pPr>
            <a:r>
              <a:t>•  Layer 2: LLM Generation — Llama-3.1-8B via Groq API</a:t>
            </a:r>
          </a:p>
          <a:p>
            <a:pPr>
              <a:spcAft>
                <a:spcPts val="600"/>
              </a:spcAft>
              <a:defRPr sz="1800">
                <a:solidFill>
                  <a:srgbClr val="94A3B8"/>
                </a:solidFill>
                <a:latin typeface="Calibri"/>
              </a:defRPr>
            </a:pPr>
            <a:r>
              <a:t>•  Layer 3: NLI Verification — RoBERTa-large-MNLI (whole/windowed/decomposed)</a:t>
            </a:r>
          </a:p>
          <a:p>
            <a:pPr>
              <a:spcAft>
                <a:spcPts val="600"/>
              </a:spcAft>
              <a:defRPr sz="1800">
                <a:solidFill>
                  <a:srgbClr val="94A3B8"/>
                </a:solidFill>
                <a:latin typeface="Calibri"/>
              </a:defRPr>
            </a:pPr>
            <a:r>
              <a:t>•  Layer 4: Adaptive Verdict — Cw-CONLI threshold (tiered, sqrt, sigmoid)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1F5F9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 Backend: Python 3.10, FastAPI, FAISS, HuggingFace Transformers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 Frontend: React 18, Vite 5, Framer Motion, Recharts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 ML Models: BGE-small-en-v1.5 (embeddings), RoBERTa-large-MNLI (NLI), Llama-3.1-8B (generation)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 Evaluation: HaluEval benchmark (20,000 samples), McNemar’s test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 Infrastructure: CPU-only (M4 MacBook Pro), Makefile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BBF24"/>
                </a:solidFill>
                <a:latin typeface="Calibri"/>
              </a:defRPr>
            </a:pPr>
            <a:r>
              <a:t>[INSERT: Technology stack diagram]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1F5F9"/>
                </a:solidFill>
                <a:latin typeface="Calibri"/>
              </a:defRPr>
            </a:pPr>
            <a:r>
              <a:t>AI/ML Pipeline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 Dataset: HaluEval (Li et al. 2023) — 10K QA + 10K Summarisation samples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 Split: 70% dev / 30% test (seed=42), stratified by task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 Precompute: Retrieval + NLI scores cached once, then sweep thresholds (fast tuning)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 v2 Upgrades: Sliding-window NLI (400-token windows, 200-stride), claim decomposition, BGE embeddings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 Calibration: Temperature scaling investigated — T=10.0 at boundary (documented negative result)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38BDF8"/>
                </a:solidFill>
                <a:latin typeface="Calibri"/>
              </a:defRPr>
            </a:pPr>
            <a:r>
              <a:t>Three-condition experiment: C1 (RAG-only) → C2 (static CONLI) → C3 (Cw-CONLI)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4ADE80"/>
                </a:solidFill>
                <a:latin typeface="Calibri"/>
              </a:defRPr>
            </a:pPr>
            <a:r>
              <a:t>Live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F1F5F9"/>
                </a:solidFill>
                <a:latin typeface="Calibri"/>
              </a:defRPr>
            </a:pPr>
            <a:r>
              <a:t>Showing the AFLHR Lite React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94A3B8"/>
                </a:solidFill>
                <a:latin typeface="Calibri"/>
              </a:defRPr>
            </a:pPr>
            <a:r>
              <a:t>•  Verify a factually supported query (Westminster founding)</a:t>
            </a:r>
          </a:p>
          <a:p>
            <a:pPr>
              <a:spcAft>
                <a:spcPts val="600"/>
              </a:spcAft>
              <a:defRPr sz="2000">
                <a:solidFill>
                  <a:srgbClr val="94A3B8"/>
                </a:solidFill>
                <a:latin typeface="Calibri"/>
              </a:defRPr>
            </a:pPr>
            <a:r>
              <a:t>•  Detect a hallucination (off-topic query)</a:t>
            </a:r>
          </a:p>
          <a:p>
            <a:pPr>
              <a:spcAft>
                <a:spcPts val="600"/>
              </a:spcAft>
              <a:defRPr sz="2000">
                <a:solidFill>
                  <a:srgbClr val="94A3B8"/>
                </a:solidFill>
                <a:latin typeface="Calibri"/>
              </a:defRPr>
            </a:pPr>
            <a:r>
              <a:t>•  v2 mode: per-claim decomposition breakdown</a:t>
            </a:r>
          </a:p>
          <a:p>
            <a:pPr>
              <a:spcAft>
                <a:spcPts val="600"/>
              </a:spcAft>
              <a:defRPr sz="2000">
                <a:solidFill>
                  <a:srgbClr val="94A3B8"/>
                </a:solidFill>
                <a:latin typeface="Calibri"/>
              </a:defRPr>
            </a:pPr>
            <a:r>
              <a:t>•  Threshold tuning: pivot adjustment</a:t>
            </a:r>
          </a:p>
          <a:p>
            <a:pPr>
              <a:spcAft>
                <a:spcPts val="600"/>
              </a:spcAft>
              <a:defRPr sz="2000">
                <a:solidFill>
                  <a:srgbClr val="94A3B8"/>
                </a:solidFill>
                <a:latin typeface="Calibri"/>
              </a:defRPr>
            </a:pPr>
            <a:r>
              <a:t>•  Batch exploration across domains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1F5F9"/>
                </a:solidFill>
                <a:latin typeface="Calibri"/>
              </a:defRPr>
            </a:pPr>
            <a:r>
              <a:t>Testing &amp; Evaluation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 Unit + Integration Testing: 36/36 passed (100%)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 API-Level Functional Testing: 18/18 passed (100%)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 Non-Functional Testing: 10/10 passed (100%) — avg response 405ms (v1), 690ms (v2)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 Model Evaluation: C2 F1 = 0.6988, C3 Tiered F1 = 0.6998 (combined test)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 QA: C3 Sqrt reduces over-flagging from 12.2% to 9.5%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 McNemar’s p = 1.0 (standard) — C3 and C2 converge on this benchmark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1F5F9"/>
                </a:solidFill>
                <a:latin typeface="Calibri"/>
              </a:defRPr>
            </a:pPr>
            <a:r>
              <a:t>Critical Evaluation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6 evaluators: 4 technical experts + 2 domain experts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94A3B8"/>
                </a:solidFill>
                <a:latin typeface="Calibri"/>
              </a:defRPr>
            </a:pPr>
            <a:r>
              <a:t>•  Transparency rated highest: 4.5/5 — full exposure of scores and reasoning</a:t>
            </a:r>
          </a:p>
          <a:p>
            <a:pPr>
              <a:spcAft>
                <a:spcPts val="600"/>
              </a:spcAft>
              <a:defRPr sz="1800">
                <a:solidFill>
                  <a:srgbClr val="94A3B8"/>
                </a:solidFill>
                <a:latin typeface="Calibri"/>
              </a:defRPr>
            </a:pPr>
            <a:r>
              <a:t>•  Deployment feasibility: 4.2/5 — CPU-only, sub-second, Makefile setup</a:t>
            </a:r>
          </a:p>
          <a:p>
            <a:pPr>
              <a:spcAft>
                <a:spcPts val="600"/>
              </a:spcAft>
              <a:defRPr sz="1800">
                <a:solidFill>
                  <a:srgbClr val="94A3B8"/>
                </a:solidFill>
                <a:latin typeface="Calibri"/>
              </a:defRPr>
            </a:pPr>
            <a:r>
              <a:t>•  Detection accuracy: 3.8/5 — strong on QA, weaker on summarisation</a:t>
            </a:r>
          </a:p>
          <a:p>
            <a:pPr>
              <a:spcAft>
                <a:spcPts val="600"/>
              </a:spcAft>
              <a:defRPr sz="1800">
                <a:solidFill>
                  <a:srgbClr val="94A3B8"/>
                </a:solidFill>
                <a:latin typeface="Calibri"/>
              </a:defRPr>
            </a:pPr>
            <a:r>
              <a:t>•  Algorithmic novelty: 3.2/5 — sound concept, limited impact on this benchmark</a:t>
            </a:r>
          </a:p>
          <a:p>
            <a:pPr>
              <a:spcAft>
                <a:spcPts val="600"/>
              </a:spcAft>
              <a:defRPr sz="1800">
                <a:solidFill>
                  <a:srgbClr val="94A3B8"/>
                </a:solidFill>
                <a:latin typeface="Calibri"/>
              </a:defRPr>
            </a:pPr>
            <a:r>
              <a:t>•  Scalability: 3.0/5 — in-memory FAISS limits KB size</a:t>
            </a:r>
          </a:p>
          <a:p>
            <a:pPr>
              <a:spcAft>
                <a:spcPts val="600"/>
              </a:spcAft>
              <a:defRPr sz="1800">
                <a:solidFill>
                  <a:srgbClr val="94A3B8"/>
                </a:solidFill>
                <a:latin typeface="Calibri"/>
              </a:defRPr>
            </a:pPr>
            <a:r>
              <a:t>•  Key feedback: "Honest null result reporting is a strength, not a weakness" (DE-1)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1F5F9"/>
                </a:solidFill>
                <a:latin typeface="Calibri"/>
              </a:defRPr>
            </a:pPr>
            <a:r>
              <a:t>Contribution to Body of Knowledge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8BDF8"/>
                </a:solidFill>
                <a:latin typeface="Calibri"/>
              </a:defRPr>
            </a:pPr>
            <a:r>
              <a:t>Problem Domain: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94A3B8"/>
                </a:solidFill>
                <a:latin typeface="Calibri"/>
              </a:defRPr>
            </a:pPr>
            <a:r>
              <a:t>•  Cw-CONLI framework: first system to weight NLI thresholds by retrieval confidence</a:t>
            </a:r>
          </a:p>
          <a:p>
            <a:pPr>
              <a:spcAft>
                <a:spcPts val="600"/>
              </a:spcAft>
              <a:defRPr sz="1700">
                <a:solidFill>
                  <a:srgbClr val="94A3B8"/>
                </a:solidFill>
                <a:latin typeface="Calibri"/>
              </a:defRPr>
            </a:pPr>
            <a:r>
              <a:t>•  Realistic experiment shows significant benefit (p = 1.40×10⁻⁵) when retrieval varies</a:t>
            </a:r>
          </a:p>
          <a:p>
            <a:pPr>
              <a:spcAft>
                <a:spcPts val="600"/>
              </a:spcAft>
              <a:defRPr sz="1700">
                <a:solidFill>
                  <a:srgbClr val="94A3B8"/>
                </a:solidFill>
                <a:latin typeface="Calibri"/>
              </a:defRPr>
            </a:pPr>
            <a:r>
              <a:t>•  v2 engineering: windowed NLI fixes summarisation, decomposition catches partial hallucinations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8BDF8"/>
                </a:solidFill>
                <a:latin typeface="Calibri"/>
              </a:defRPr>
            </a:pPr>
            <a:r>
              <a:t>Research Domain: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94A3B8"/>
                </a:solidFill>
                <a:latin typeface="Calibri"/>
              </a:defRPr>
            </a:pPr>
            <a:r>
              <a:t>•  Reproducible three-condition experiment with dev/test split and McNemar’s test</a:t>
            </a:r>
          </a:p>
          <a:p>
            <a:pPr>
              <a:spcAft>
                <a:spcPts val="600"/>
              </a:spcAft>
              <a:defRPr sz="1700">
                <a:solidFill>
                  <a:srgbClr val="94A3B8"/>
                </a:solidFill>
                <a:latin typeface="Calibri"/>
              </a:defRPr>
            </a:pPr>
            <a:r>
              <a:t>•  Honest null result: C3 ≈ C2 on standard benchmark (identifies boundary conditions)</a:t>
            </a:r>
          </a:p>
          <a:p>
            <a:pPr>
              <a:spcAft>
                <a:spcPts val="600"/>
              </a:spcAft>
              <a:defRPr sz="1700">
                <a:solidFill>
                  <a:srgbClr val="94A3B8"/>
                </a:solidFill>
                <a:latin typeface="Calibri"/>
              </a:defRPr>
            </a:pPr>
            <a:r>
              <a:t>•  Documented negative result: calibration T=10.0 (NLI logits uncalibratable)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1F5F9"/>
                </a:solidFill>
                <a:latin typeface="Calibri"/>
              </a:defRPr>
            </a:pPr>
            <a:r>
              <a:t>Novelty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 Confidence-weighted NLI threshold: no prior work adapts verification stringency to retrieval quality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 Three weighting functions compared: tiered (step), sqrt (continuous), sigmoid (smooth)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 Sliding-window NLI: overlapping 400-token windows with stride 200, max aggregation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 Sentence-level claim decomposition: split → verify each → min score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 Dual-experiment design: standard per-sample + realistic shared-index retrieval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1F5F9"/>
                </a:solidFill>
                <a:latin typeface="Calibri"/>
              </a:defRPr>
            </a:pPr>
            <a:r>
              <a:t>Limitations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87171"/>
                </a:solidFill>
                <a:latin typeface="Calibri"/>
              </a:defRPr>
            </a:pPr>
            <a:r>
              <a:t>Limitations: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94A3B8"/>
                </a:solidFill>
                <a:latin typeface="Calibri"/>
              </a:defRPr>
            </a:pPr>
            <a:r>
              <a:t>•  Single benchmark (HaluEval) — tight retrieval clustering limits C3 differentiation</a:t>
            </a:r>
          </a:p>
          <a:p>
            <a:pPr>
              <a:spcAft>
                <a:spcPts val="600"/>
              </a:spcAft>
              <a:defRPr sz="1700">
                <a:solidFill>
                  <a:srgbClr val="94A3B8"/>
                </a:solidFill>
                <a:latin typeface="Calibri"/>
              </a:defRPr>
            </a:pPr>
            <a:r>
              <a:t>•  Single NLI model (RoBERTa-MNLI) — not fine-tuned for hallucination detection</a:t>
            </a:r>
          </a:p>
          <a:p>
            <a:pPr>
              <a:spcAft>
                <a:spcPts val="600"/>
              </a:spcAft>
              <a:defRPr sz="1700">
                <a:solidFill>
                  <a:srgbClr val="94A3B8"/>
                </a:solidFill>
                <a:latin typeface="Calibri"/>
              </a:defRPr>
            </a:pPr>
            <a:r>
              <a:t>•  Summarisation over-flagging remains ~98-99% despite windowed NLI</a:t>
            </a:r>
          </a:p>
          <a:p>
            <a:pPr>
              <a:spcAft>
                <a:spcPts val="600"/>
              </a:spcAft>
              <a:defRPr sz="1700">
                <a:solidFill>
                  <a:srgbClr val="94A3B8"/>
                </a:solidFill>
                <a:latin typeface="Calibri"/>
              </a:defRPr>
            </a:pPr>
            <a:r>
              <a:t>•  CPU-only inference — practical but slower than GPU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4ADE80"/>
                </a:solidFill>
                <a:latin typeface="Calibri"/>
              </a:defRPr>
            </a:pPr>
            <a:r>
              <a:t>Future Work: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9377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94A3B8"/>
                </a:solidFill>
                <a:latin typeface="Calibri"/>
              </a:defRPr>
            </a:pPr>
            <a:r>
              <a:t>•  Evaluate on datasets with natural retrieval diversity (Natural Questions, TriviaQA)</a:t>
            </a:r>
          </a:p>
          <a:p>
            <a:pPr>
              <a:spcAft>
                <a:spcPts val="600"/>
              </a:spcAft>
              <a:defRPr sz="1700">
                <a:solidFill>
                  <a:srgbClr val="94A3B8"/>
                </a:solidFill>
                <a:latin typeface="Calibri"/>
              </a:defRPr>
            </a:pPr>
            <a:r>
              <a:t>•  NLI ensembles and hallucination-specific fine-tuning</a:t>
            </a:r>
          </a:p>
          <a:p>
            <a:pPr>
              <a:spcAft>
                <a:spcPts val="600"/>
              </a:spcAft>
              <a:defRPr sz="1700">
                <a:solidFill>
                  <a:srgbClr val="94A3B8"/>
                </a:solidFill>
                <a:latin typeface="Calibri"/>
              </a:defRPr>
            </a:pPr>
            <a:r>
              <a:t>•  Weighted window aggregation for improved summarisation handling</a:t>
            </a:r>
          </a:p>
          <a:p>
            <a:pPr>
              <a:spcAft>
                <a:spcPts val="600"/>
              </a:spcAft>
              <a:defRPr sz="1700">
                <a:solidFill>
                  <a:srgbClr val="94A3B8"/>
                </a:solidFill>
                <a:latin typeface="Calibri"/>
              </a:defRPr>
            </a:pPr>
            <a:r>
              <a:t>•  Learn sigmoid parameters from data (k, pivot) instead of grid search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1F5F9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 Cw-CONLI provides a principled framework for adaptive hallucination detection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 On standard benchmarks: C3 ≈ C2 (null result — retrieval scores too clustered)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 Under realistic retrieval: C3 significantly reduces over-flagging (100% → 44.9%, p = 1.4×10⁻⁵)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 Primary contribution is v2 engineering: windowed NLI, decomposition, BGE embeddings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 All four research objectives achieved; three RQs answered with nuance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 Framework is deployable on consumer hardware with sub-second response times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1F5F9"/>
                </a:solidFill>
                <a:latin typeface="Calibri"/>
              </a:defRPr>
            </a:pPr>
            <a:r>
              <a:t>New Skills Acquired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 Natural Language Inference (NLI) — RoBERTa-MNLI, entailment classification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 Vector similarity search — FAISS indexing, cosine similarity, embedding models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 LLM API integration — Groq API, prompt engineering, temperature control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 Retrieval-Augmented Generation (RAG) pipeline design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 Statistical hypothesis testing — McNemar’s test for paired classifier comparison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 React frontend development — Framer Motion animations, Vite build system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 Experiment design — precompute-then-sweep, dev/test split methodology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1F5F9"/>
                </a:solidFill>
                <a:latin typeface="Calibri"/>
              </a:defRPr>
            </a:pPr>
            <a:r>
              <a:t>Application of Existing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 Python programming — modular OOP design (AFLHREngine class), FastAPI REST API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 Software engineering — Git version control, Makefile automation, CI patterns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 Machine learning fundamentals — train/dev/test splits, F1/precision/recall metrics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 Data analysis — pandas, matplotlib for experiment analysis and visualisation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 Research methodology — literature review, Saunders’ research onion, mixed methods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 Technical writing — structured academic report with Harvard referencing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F1F5F9"/>
                </a:solidFill>
                <a:latin typeface="Calibri"/>
              </a:defRPr>
            </a:pPr>
            <a:r>
              <a:t>•  Built AFLHR Lite: a complete RAG + NLI hallucination detection pipeline</a:t>
            </a:r>
          </a:p>
          <a:p>
            <a:pPr>
              <a:spcAft>
                <a:spcPts val="600"/>
              </a:spcAft>
              <a:defRPr sz="2000">
                <a:solidFill>
                  <a:srgbClr val="F1F5F9"/>
                </a:solidFill>
                <a:latin typeface="Calibri"/>
              </a:defRPr>
            </a:pPr>
            <a:r>
              <a:t>•  Proposed Cw-CONLI: confidence-weighted thresholds for adaptive verification</a:t>
            </a:r>
          </a:p>
          <a:p>
            <a:pPr>
              <a:spcAft>
                <a:spcPts val="600"/>
              </a:spcAft>
              <a:defRPr sz="2000">
                <a:solidFill>
                  <a:srgbClr val="F1F5F9"/>
                </a:solidFill>
                <a:latin typeface="Calibri"/>
              </a:defRPr>
            </a:pPr>
            <a:r>
              <a:t>•  Evaluated on 20,000 samples: honest null result on standard, significant on realistic</a:t>
            </a:r>
          </a:p>
          <a:p>
            <a:pPr>
              <a:spcAft>
                <a:spcPts val="600"/>
              </a:spcAft>
              <a:defRPr sz="2000">
                <a:solidFill>
                  <a:srgbClr val="F1F5F9"/>
                </a:solidFill>
                <a:latin typeface="Calibri"/>
              </a:defRPr>
            </a:pPr>
            <a:r>
              <a:t>•  v2 engineering fixes real problems: windowed NLI, claim decomposition, BGE embeddings</a:t>
            </a:r>
          </a:p>
          <a:p>
            <a:pPr>
              <a:spcAft>
                <a:spcPts val="600"/>
              </a:spcAft>
              <a:defRPr sz="2000">
                <a:solidFill>
                  <a:srgbClr val="F1F5F9"/>
                </a:solidFill>
                <a:latin typeface="Calibri"/>
              </a:defRPr>
            </a:pPr>
            <a:r>
              <a:t>•  CPU-deployable, sub-second, fully reproducible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38BDF8"/>
                </a:solidFill>
                <a:latin typeface="Calibri"/>
              </a:defRPr>
            </a:pPr>
            <a:r>
              <a:t>Thank you.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